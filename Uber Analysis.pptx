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92538-FB06-8179-0D80-6C708C478A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611731-EE3D-BDCE-D0D6-1D63C1047C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4C93B-0B41-89DD-C72C-E227A5180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45FF0-4E8E-400B-8E45-F466D91BBD5E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C82FB-6898-DB7C-9F30-317597705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E4118-9D9A-B69B-43AA-1F1936EE0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E9805-9113-45E7-B01A-8040FB6B1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326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8DFB0-A232-25EB-5321-D80C7F39B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B645F-6BDF-BE2B-5EFC-2EDC7672A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8B7E6-4FDF-A47B-1577-50E1005A1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45FF0-4E8E-400B-8E45-F466D91BBD5E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F2A4B-997D-A677-5353-86A25E2B6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9FB94-762D-C2B5-C600-F881ADB9A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E9805-9113-45E7-B01A-8040FB6B1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528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0A535-88E7-4077-778D-E4663C7AA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F5A7C8-AC9F-49F6-C076-E3185D547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1DFCFA-15FD-C351-A559-CF8231984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45FF0-4E8E-400B-8E45-F466D91BBD5E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0BBB2-2D0F-4356-0EA2-3D167B20F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0D43C-AF48-7C15-FF06-950F1D1A0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E9805-9113-45E7-B01A-8040FB6B1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912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09795-1168-7844-68BA-A843BD2A3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BA82D-664D-8D1A-7CCB-2641637242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61C458-1463-97C5-5BFE-6A65C4E193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911D7C-7F8B-9766-9149-F9E6D69C5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45FF0-4E8E-400B-8E45-F466D91BBD5E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129EBF-6745-34CD-234B-4AF6B7D79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7A080E-2425-1AAD-C692-7B1EED6D7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E9805-9113-45E7-B01A-8040FB6B1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376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B4240-F8CB-38A3-2934-2AB443E08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332A4F-A5A7-43F0-DBAD-5F38C12F3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D90B1F-BF46-09DD-9299-E994BB018E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F727B1-B681-93AC-4239-A0033AFB99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12BB21-7A43-7ED7-90D3-3DD33C64A8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1A3F6C-DEF1-FC7C-91C1-126D670A6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45FF0-4E8E-400B-8E45-F466D91BBD5E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70B95D-AD25-EBA0-6629-30F2B9E68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107565-1C03-E360-55AF-A5BCF1180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E9805-9113-45E7-B01A-8040FB6B1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36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226C2-37A7-6DA1-D17B-322D836D7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D11BCE-6682-109A-104D-236076599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45FF0-4E8E-400B-8E45-F466D91BBD5E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491231-951A-6A71-3B90-661635897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8FE4C2-4D21-398D-BE54-4A04699EE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E9805-9113-45E7-B01A-8040FB6B1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254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A593ED-9DC5-DB29-2534-8763531B6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45FF0-4E8E-400B-8E45-F466D91BBD5E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BE061B-0F14-CCF7-4F28-A9308684B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B899AC-5EFA-DC98-D551-EC632ADD0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E9805-9113-45E7-B01A-8040FB6B1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337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AE81F-5C24-307B-7A97-E1B4B2335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EBD90-B652-99B1-C418-6C8B2F372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C67EB2-2DF6-BF89-29CE-0F2A9787EA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2F079E-9CD9-82EB-D0D3-022CC2430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45FF0-4E8E-400B-8E45-F466D91BBD5E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5550EF-BF9E-56D0-737C-7EC3F89A1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E69485-6A84-F84E-8578-031895AE4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E9805-9113-45E7-B01A-8040FB6B1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053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4290C-F3E5-81E9-077C-07F93C2D5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0D1794-3394-6015-8706-6DBF79D0D7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4ED312-ED21-FA7A-A7E7-70390FF196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5DA2E2-66D9-BB22-E97C-99A7FF07E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45FF0-4E8E-400B-8E45-F466D91BBD5E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975E3D-79F8-22E2-D615-5C09E795F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CA7A78-B2CE-AA81-5344-0614A27A8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E9805-9113-45E7-B01A-8040FB6B1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521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74B49-3244-3467-1AA6-27BA5CB1D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8AA9B4-51C8-71D9-4A0A-1C0DC2AB41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7211D-67BA-C39A-16FC-CE3802EB1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45FF0-4E8E-400B-8E45-F466D91BBD5E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C499AE-19C1-9BEA-73A1-AC2531DFA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68BE1-0323-A456-9D3E-ACBC7BE70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E9805-9113-45E7-B01A-8040FB6B1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509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5D002C-1C91-44BC-2605-E4E41F8635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3FEAB6-27CD-429E-3F31-2C3A23C122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60D69A-FDA5-65B8-6BE7-DD324C625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45FF0-4E8E-400B-8E45-F466D91BBD5E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6BCD2-B5CD-C87C-F907-D4BC97704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F9512-C5A4-3FB5-2B32-66E663EE4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E9805-9113-45E7-B01A-8040FB6B1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365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821C55-ED6D-8945-1498-924BD42E6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C2E59-9422-F5B4-6A56-2FD05EF01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0908C-F33C-FF9A-41F9-453F8FADBE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845FF0-4E8E-400B-8E45-F466D91BBD5E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B7DE10-2CE1-9A06-20B2-B766DFF10A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1C8DD-A6C0-F7FF-49D2-505E652E59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0E9805-9113-45E7-B01A-8040FB6B1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198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D9B5A2-747F-5351-0F54-2319401D5D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7"/>
            <a:ext cx="9144000" cy="1941475"/>
          </a:xfrm>
        </p:spPr>
        <p:txBody>
          <a:bodyPr anchor="ctr">
            <a:normAutofit fontScale="90000"/>
          </a:bodyPr>
          <a:lstStyle/>
          <a:p>
            <a:r>
              <a:rPr lang="en-US" sz="7200" dirty="0"/>
              <a:t>Uber Trip Analysis &amp; Forecasting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C7B36C73-75F6-B8FD-7825-B74233E464F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936956" y="3231039"/>
            <a:ext cx="8839200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Leverage Uber's trip data for deeper insights and build robust forecasting models.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1035C9-2555-F8C4-B696-744B0AEBE699}"/>
              </a:ext>
            </a:extLst>
          </p:cNvPr>
          <p:cNvSpPr txBox="1"/>
          <p:nvPr/>
        </p:nvSpPr>
        <p:spPr>
          <a:xfrm>
            <a:off x="8504903" y="5535561"/>
            <a:ext cx="25858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- Vaibhav Borkar</a:t>
            </a:r>
          </a:p>
        </p:txBody>
      </p:sp>
    </p:spTree>
    <p:extLst>
      <p:ext uri="{BB962C8B-B14F-4D97-AF65-F5344CB8AC3E}">
        <p14:creationId xmlns:p14="http://schemas.microsoft.com/office/powerpoint/2010/main" val="1915672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515D20E-1AB7-4E74-9236-2B72B63D6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BA90CA-83AD-F188-05AD-E4F6AFA95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28" y="1336329"/>
            <a:ext cx="3892732" cy="4382588"/>
          </a:xfrm>
        </p:spPr>
        <p:txBody>
          <a:bodyPr anchor="ctr">
            <a:normAutofit/>
          </a:bodyPr>
          <a:lstStyle/>
          <a:p>
            <a:r>
              <a:rPr lang="en-US" sz="5400"/>
              <a:t>Introduction &amp; Strategic Objective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63461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982976"/>
            <a:ext cx="6009366" cy="512063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88778-2DE3-2C21-26A8-8CF821CC3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1" y="1336329"/>
            <a:ext cx="5260848" cy="4382588"/>
          </a:xfrm>
        </p:spPr>
        <p:txBody>
          <a:bodyPr anchor="ctr">
            <a:normAutofit/>
          </a:bodyPr>
          <a:lstStyle/>
          <a:p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Objective: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Unlock actionable insights from Uber’s trip data to enhance operational efficiency and forecast demand.</a:t>
            </a:r>
          </a:p>
          <a:p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Focus Areas: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Data Analysis &amp; Insights: Identify trip patterns, peak times, and vehicle utilization to optimize resources.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Forecasting Models (ARIMA &amp; Prophet): Predict trip volumes for smarter scheduling and resource management.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2623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7515D20E-1AB7-4E74-9236-2B72B63D6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7DB8DC-1CE6-BE4F-21A3-C5E49AFBA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28" y="1336329"/>
            <a:ext cx="3892732" cy="4382588"/>
          </a:xfrm>
        </p:spPr>
        <p:txBody>
          <a:bodyPr anchor="ctr">
            <a:normAutofit/>
          </a:bodyPr>
          <a:lstStyle/>
          <a:p>
            <a:r>
              <a:rPr lang="en-US" sz="5000"/>
              <a:t>Data Overview &amp; Preprocessing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63461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982976"/>
            <a:ext cx="6009366" cy="512063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FFA82C87-DC7A-7209-2D67-989584FE5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1" y="1336329"/>
            <a:ext cx="5260848" cy="4382588"/>
          </a:xfrm>
        </p:spPr>
        <p:txBody>
          <a:bodyPr anchor="ctr">
            <a:normAutofit fontScale="92500"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Key Columns in Dataset: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Dispatching Base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Uber base identifier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Date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Trip date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Active Vehicles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Number of vehicles available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Trips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Total trips taken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Data Transformation &amp; Feature Engineering: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Date Conversion: Converted to datetime format for accurate analysis.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Enhanced Features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Added Month, Day, Day of the Week, and Weekend to uncover daily and weekly trip patterns.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2314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AAAE94E3-A7DB-4868-B1E3-E49703488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3EC645-FC6B-2295-DF4D-AF3F51F0D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anchor="ctr">
            <a:normAutofit/>
          </a:bodyPr>
          <a:lstStyle/>
          <a:p>
            <a:r>
              <a:rPr lang="en-US" sz="3700"/>
              <a:t>Trips &amp; Active Vehicles - Insights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958DE-7024-72DC-D5F5-8D350AFBD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5278066" cy="3979585"/>
          </a:xfrm>
        </p:spPr>
        <p:txBody>
          <a:bodyPr anchor="ctr">
            <a:normAutofit/>
          </a:bodyPr>
          <a:lstStyle/>
          <a:p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Trips by Day of the Week: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Thursday, Friday &amp; Saturday show significantly higher trip volume.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Actionable Insight: Focus resource allocation and fleet deployment during peak weekend days.</a:t>
            </a:r>
          </a:p>
          <a:p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Active Vehicles vs. Trips: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Strong correlation between active vehicles and trip volume.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Actionable Insight: Scale fleet size to meet demand spikes.</a:t>
            </a:r>
          </a:p>
          <a:p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969463-BC12-DAD2-85F7-91D26D8E9C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09" r="943" b="4"/>
          <a:stretch>
            <a:fillRect/>
          </a:stretch>
        </p:blipFill>
        <p:spPr>
          <a:xfrm>
            <a:off x="7136118" y="581892"/>
            <a:ext cx="4292043" cy="2518756"/>
          </a:xfrm>
          <a:prstGeom prst="rect">
            <a:avLst/>
          </a:prstGeom>
        </p:spPr>
      </p:pic>
      <p:sp>
        <p:nvSpPr>
          <p:cNvPr id="75" name="Rectangle 74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DDDE5A-A73F-6FE4-5A34-AB180A640E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794" y="3707894"/>
            <a:ext cx="2886826" cy="251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577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3723D0-CFA1-43CD-3B82-363CF6EEF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US" sz="3700" dirty="0"/>
              <a:t>Correlation Matrix of Key Variables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CCFF4-AE96-C79F-DEB2-7AC9151D4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159" y="2330505"/>
            <a:ext cx="5516545" cy="4527495"/>
          </a:xfrm>
        </p:spPr>
        <p:txBody>
          <a:bodyPr anchor="ctr">
            <a:noAutofit/>
          </a:bodyPr>
          <a:lstStyle/>
          <a:p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Insight: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Active Vehicles ↔ Trips: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Strong positive correlation (0.98) — more active vehicles directly lead to higher trip volume.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Trips per Vehicle ↔ Active Vehicles: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Significant correlation — indicates that trip efficiency improves with more vehicles.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Day of Week ↔ Trips: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Moderate correlation — certain days (weekends) show higher trip volumes.</a:t>
            </a:r>
          </a:p>
          <a:p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Actionable Insights: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Fleet Planning: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Use the number of active vehicles to predict and adjust for expected trip volume, ensuring resource availability during peak times.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E6F11B91-B3D2-689A-5BAC-D8B43CC9C8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06" b="2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883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AAE94E3-A7DB-4868-B1E3-E49703488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F9995A-9F3F-9F55-7948-9DAE8665A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anchor="ctr">
            <a:normAutofit/>
          </a:bodyPr>
          <a:lstStyle/>
          <a:p>
            <a:r>
              <a:rPr lang="en-US" sz="3700"/>
              <a:t>Uber Base Performance &amp; Model Comparison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04B6D-F461-C085-37C9-A091082A2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8" y="2178685"/>
            <a:ext cx="5899227" cy="4583856"/>
          </a:xfrm>
        </p:spPr>
        <p:txBody>
          <a:bodyPr anchor="ctr">
            <a:noAutofit/>
          </a:bodyPr>
          <a:lstStyle/>
          <a:p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Total Trips per Uber Base: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Varying trip volumes across different Uber bases.</a:t>
            </a:r>
          </a:p>
          <a:p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Actionable Insight: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Focus on optimizing resources for high-volume bases.</a:t>
            </a:r>
          </a:p>
          <a:p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Model Performance: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Random Forest Model: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MSE: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1,513,379.90 | 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R²: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0.99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Insight: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Near-perfect prediction accuracy for trip forecasting.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ARIMA &amp; Prophet Models: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ARIMA RMSE: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11,616.64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Prophet RMSE: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11,131.81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Insight: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Both models offer strong predictions with Prophet handling seasonality better.</a:t>
            </a:r>
          </a:p>
          <a:p>
            <a:pPr marL="0" indent="0">
              <a:buNone/>
            </a:pP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F341C3-3BEC-9315-5872-6712A3AD2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5248" y="497565"/>
            <a:ext cx="4010186" cy="27086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248D11-49F1-99D5-5E52-BB3FB6DB4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4524" y="3539266"/>
            <a:ext cx="4160910" cy="280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165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0B6C84-2732-975C-1AF2-7218C281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US" sz="3700"/>
              <a:t>Time Series of Total Daily Trips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55826-BCC2-A2D6-4ECB-BA930DEFF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Insight: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Shows overall trip trends from January to February 2015.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Spikes in trips observed on weekends.</a:t>
            </a:r>
          </a:p>
          <a:p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Actionable Insight: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Forecast future trip volumes using time series models (ARIMA, Prophet).</a:t>
            </a:r>
          </a:p>
          <a:p>
            <a:endParaRPr lang="en-US" sz="20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graph showing the number of days and days&#10;&#10;AI-generated content may be incorrect.">
            <a:extLst>
              <a:ext uri="{FF2B5EF4-FFF2-40B4-BE49-F238E27FC236}">
                <a16:creationId xmlns:a16="http://schemas.microsoft.com/office/drawing/2014/main" id="{5B74FFB1-9B17-DB44-0F68-634A4D7923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5229" y="781050"/>
            <a:ext cx="5786051" cy="529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450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6A3D3C-A14D-5BB8-CCA4-C04C4036A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US" sz="3700"/>
              <a:t>Time Series Insights &amp; Decomposition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D8A53-723E-E2F1-85A3-280ADCFAD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Key Insights: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Daily Total Trips: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Fluctuations in trips across days, with clear peaks and valleys.</a:t>
            </a:r>
          </a:p>
          <a:p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Time Series Decomposition: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Identified trend, seasonality, and residuals in the data.</a:t>
            </a:r>
          </a:p>
          <a:p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Actionable Insight: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Utilize seasonality data to optimize fleet allocation and improve forecasting.</a:t>
            </a:r>
          </a:p>
          <a:p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graph of a graph showing a number of different types of data&#10;&#10;AI-generated content may be incorrect.">
            <a:extLst>
              <a:ext uri="{FF2B5EF4-FFF2-40B4-BE49-F238E27FC236}">
                <a16:creationId xmlns:a16="http://schemas.microsoft.com/office/drawing/2014/main" id="{507BBAE5-08BE-B46E-F253-708E0813DA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3173" y="733528"/>
            <a:ext cx="5753742" cy="541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744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C9D206-AB0B-F4AC-8883-F8D5AB0E9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US" sz="3400"/>
              <a:t>Final Forecasting Models &amp; Future Strategy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38969-7803-0D35-2931-6BDDD5E29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Autofit/>
          </a:bodyPr>
          <a:lstStyle/>
          <a:p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Key Forecasting Models: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ARIMA: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Handles trend well, suitable for short-term predictions.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Prophet: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Handles both daily and weekly seasonality with high accuracy for long-term forecasts.</a:t>
            </a:r>
          </a:p>
          <a:p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Next Steps: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Continue refining the models for future predictions.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Focus on </a:t>
            </a: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weekly seasonality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to improve fleet allocation.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Monitor key variables like </a:t>
            </a: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active vehicles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day of the week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for resource planning.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graph showing a line of a graph&#10;&#10;AI-generated content may be incorrect.">
            <a:extLst>
              <a:ext uri="{FF2B5EF4-FFF2-40B4-BE49-F238E27FC236}">
                <a16:creationId xmlns:a16="http://schemas.microsoft.com/office/drawing/2014/main" id="{D6FB41B2-F77A-5E5B-0966-658AF83823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9703" y="760415"/>
            <a:ext cx="5861577" cy="516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08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2718B3-472B-28B2-8D6E-EF59FB3DF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US" sz="3700"/>
              <a:t>Conclusion &amp; Actionable Insights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3C002-34F3-52B3-8962-58EABF1F0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196" y="2118001"/>
            <a:ext cx="5221639" cy="4426189"/>
          </a:xfrm>
        </p:spPr>
        <p:txBody>
          <a:bodyPr anchor="ctr">
            <a:normAutofit fontScale="92500" lnSpcReduction="10000"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Key Takeaways: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Significant correlation between active vehicles and trips.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Weekend demand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is crucial—optimize fleet allocation accordingly.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Forecasting models (ARIMA &amp; Prophet) provide high accuracy—use for long-term planning.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Action Plan: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Implement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dynamic fleet management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based on day-of-week and active vehicle demand.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Refine forecasting models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for improved accuracy in resource allocation and trip predictions.</a:t>
            </a:r>
          </a:p>
          <a:p>
            <a:endParaRPr lang="en-US" sz="1600" b="1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aph of a number of days and days&#10;&#10;AI-generated content may be incorrect.">
            <a:extLst>
              <a:ext uri="{FF2B5EF4-FFF2-40B4-BE49-F238E27FC236}">
                <a16:creationId xmlns:a16="http://schemas.microsoft.com/office/drawing/2014/main" id="{8CB73253-0FC8-08A3-DA19-81CE900E3C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" b="3065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287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625</Words>
  <Application>Microsoft Office PowerPoint</Application>
  <PresentationFormat>Widescreen</PresentationFormat>
  <Paragraphs>74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Wingdings</vt:lpstr>
      <vt:lpstr>Office Theme</vt:lpstr>
      <vt:lpstr>Uber Trip Analysis &amp; Forecasting</vt:lpstr>
      <vt:lpstr>Introduction &amp; Strategic Objective</vt:lpstr>
      <vt:lpstr>Data Overview &amp; Preprocessing</vt:lpstr>
      <vt:lpstr>Trips &amp; Active Vehicles - Insights</vt:lpstr>
      <vt:lpstr>Correlation Matrix of Key Variables</vt:lpstr>
      <vt:lpstr>Uber Base Performance &amp; Model Comparison</vt:lpstr>
      <vt:lpstr>Time Series of Total Daily Trips</vt:lpstr>
      <vt:lpstr>Time Series Insights &amp; Decomposition</vt:lpstr>
      <vt:lpstr>Final Forecasting Models &amp; Future Strategy</vt:lpstr>
      <vt:lpstr>Conclusion &amp; Actionable Insights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Vaidhavi Borkar</dc:creator>
  <cp:lastModifiedBy>Vaidhavi Borkar</cp:lastModifiedBy>
  <cp:revision>1</cp:revision>
  <dcterms:created xsi:type="dcterms:W3CDTF">2025-06-07T06:47:36Z</dcterms:created>
  <dcterms:modified xsi:type="dcterms:W3CDTF">2025-06-07T08:27:32Z</dcterms:modified>
</cp:coreProperties>
</file>